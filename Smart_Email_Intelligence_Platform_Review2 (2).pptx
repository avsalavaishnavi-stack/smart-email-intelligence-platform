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vaishnavi" userId="c1d83a062976575d" providerId="LiveId" clId="{92589034-E018-4362-96DD-2A9006D93B26}"/>
    <pc:docChg chg="modSld">
      <pc:chgData name="a vaishnavi" userId="c1d83a062976575d" providerId="LiveId" clId="{92589034-E018-4362-96DD-2A9006D93B26}" dt="2026-08-11T16:02:36.922" v="26" actId="20577"/>
      <pc:docMkLst>
        <pc:docMk/>
      </pc:docMkLst>
      <pc:sldChg chg="modSp mod">
        <pc:chgData name="a vaishnavi" userId="c1d83a062976575d" providerId="LiveId" clId="{92589034-E018-4362-96DD-2A9006D93B26}" dt="2026-08-11T16:02:36.922" v="26" actId="20577"/>
        <pc:sldMkLst>
          <pc:docMk/>
          <pc:sldMk cId="0" sldId="256"/>
        </pc:sldMkLst>
        <pc:spChg chg="mod">
          <ac:chgData name="a vaishnavi" userId="c1d83a062976575d" providerId="LiveId" clId="{92589034-E018-4362-96DD-2A9006D93B26}" dt="2026-08-11T16:02:36.922" v="26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50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6858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roj/icons/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9272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Email Intelligence Platform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280160" y="3291840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Organizing, searching and prioritizing email at scale — powered entirely by classical Data Structures &amp; Algorithms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280160" y="4160520"/>
            <a:ext cx="9631375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4325112"/>
            <a:ext cx="9631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47274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Namitha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5093208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__________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06435" y="47274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06435" y="5093208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__________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32710" y="47274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Shamukhi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32710" y="5093208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__________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58985" y="47274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58985" y="5093208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__________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985260" y="47274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Tahfeem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85260" y="5093208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__________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280160" y="5650992"/>
            <a:ext cx="9631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Data Structures &amp; Algorithms Course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users receive hundreds of emails daily. Important messages get buried under spam, duplicates and clutter, and today's clients offer little algorithmic transparency or control.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13760" cy="1874520"/>
          </a:xfrm>
          <a:prstGeom prst="roundRect">
            <a:avLst>
              <a:gd name="adj" fmla="val 3902"/>
            </a:avLst>
          </a:prstGeom>
          <a:solidFill>
            <a:srgbClr val="EFF5F8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36829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roj/icons/sp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2499970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50008"/>
            <a:ext cx="236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Overload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017520"/>
            <a:ext cx="3011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daily emails bury critical messages under noise and spam.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2440" y="2148840"/>
            <a:ext cx="3413760" cy="1874520"/>
          </a:xfrm>
          <a:prstGeom prst="roundRect">
            <a:avLst>
              <a:gd name="adj" fmla="val 3902"/>
            </a:avLst>
          </a:prstGeom>
          <a:solidFill>
            <a:srgbClr val="EFF5F8"/>
          </a:solidFill>
          <a:ln/>
        </p:spPr>
      </p:sp>
      <p:sp>
        <p:nvSpPr>
          <p:cNvPr id="11" name="Shape 8"/>
          <p:cNvSpPr/>
          <p:nvPr/>
        </p:nvSpPr>
        <p:spPr>
          <a:xfrm>
            <a:off x="4483608" y="23682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roj/icons/dupli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282" y="249997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51120" y="2350008"/>
            <a:ext cx="236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Storage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83608" y="3017520"/>
            <a:ext cx="3011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duplicate detection — repeated mail wastes space and attention.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16240" y="2148840"/>
            <a:ext cx="3413760" cy="1874520"/>
          </a:xfrm>
          <a:prstGeom prst="roundRect">
            <a:avLst>
              <a:gd name="adj" fmla="val 3902"/>
            </a:avLst>
          </a:prstGeom>
          <a:solidFill>
            <a:srgbClr val="EFF5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7408" y="236829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roj/icons/keyw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9082" y="249997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84920" y="2350008"/>
            <a:ext cx="236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Basic Search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17408" y="3017520"/>
            <a:ext cx="3011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keyword matching struggles at scale and can't handle phrase queries.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3413760" cy="1874520"/>
          </a:xfrm>
          <a:prstGeom prst="roundRect">
            <a:avLst>
              <a:gd name="adj" fmla="val 3902"/>
            </a:avLst>
          </a:prstGeom>
          <a:solidFill>
            <a:srgbClr val="EFF5F8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456285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proj/icons/prio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82" y="469453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544568"/>
            <a:ext cx="236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Prioritization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49808" y="5212080"/>
            <a:ext cx="3011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"important" flags replace any computed, explainable ranking.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82440" y="4343400"/>
            <a:ext cx="3413760" cy="1874520"/>
          </a:xfrm>
          <a:prstGeom prst="roundRect">
            <a:avLst>
              <a:gd name="adj" fmla="val 3902"/>
            </a:avLst>
          </a:prstGeom>
          <a:solidFill>
            <a:srgbClr val="EFF5F8"/>
          </a:solidFill>
          <a:ln/>
        </p:spPr>
      </p:sp>
      <p:sp>
        <p:nvSpPr>
          <p:cNvPr id="26" name="Shape 20"/>
          <p:cNvSpPr/>
          <p:nvPr/>
        </p:nvSpPr>
        <p:spPr>
          <a:xfrm>
            <a:off x="4483608" y="456285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4" descr="/home/claude/proj/icons/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282" y="4694530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51120" y="4544568"/>
            <a:ext cx="236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Relationships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483608" y="5212080"/>
            <a:ext cx="3011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sender/contact communication patterns over time.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16240" y="4343400"/>
            <a:ext cx="3413760" cy="1874520"/>
          </a:xfrm>
          <a:prstGeom prst="roundRect">
            <a:avLst>
              <a:gd name="adj" fmla="val 3902"/>
            </a:avLst>
          </a:prstGeom>
          <a:solidFill>
            <a:srgbClr val="EFF5F8"/>
          </a:solidFill>
          <a:ln/>
        </p:spPr>
      </p:sp>
      <p:sp>
        <p:nvSpPr>
          <p:cNvPr id="31" name="Shape 24"/>
          <p:cNvSpPr/>
          <p:nvPr/>
        </p:nvSpPr>
        <p:spPr>
          <a:xfrm>
            <a:off x="8217408" y="456285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/home/claude/proj/icons/cro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9082" y="4694530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84920" y="4544568"/>
            <a:ext cx="236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Logic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17408" y="5212080"/>
            <a:ext cx="3011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ML classifiers give no insight into why an email was sorted that way.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algorithmically transparent platform where every feature maps to a defined, analyzable DSA technique.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34440" y="2212848"/>
            <a:ext cx="1014984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9514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951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267712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fast keyword &amp; phrase search using Trie, Suffix Array and KMP pattern matching.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34440" y="2999232"/>
            <a:ext cx="1014984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8152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81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054096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duplicate and near-duplicate emails using Rabin-Karp rolling-hash comparison.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34440" y="3785616"/>
            <a:ext cx="1014984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6791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679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84048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inbox by computed priority using a Heap-based priority queue in O(log n).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34440" y="4572000"/>
            <a:ext cx="1014984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65429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542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626864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sender relationships as a graph, enabling BFS/DFS communication analysis.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234440" y="5358384"/>
            <a:ext cx="1014984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440680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40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5413248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similar emails via Dynamic Programming similarity scoring and an LRU cache for recently viewed mail.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clients: Gmail, Outlook, Yahoo Mail — capable, but algorithmically opaque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0487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8" name="Image 0" descr="/home/claude/proj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" y="2532156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2402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ML classifiers with opaque, non-explainable decision logic.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363931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2" name="Image 1" descr="/home/claude/proj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" y="3766596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47472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linear/keyword search — slow at scale, no phrase-level matching.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87375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2" descr="/home/claude/proj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" y="5001036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709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duplicate detection; redundant emails pile up silently.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08192" y="21488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19" name="Shape 14"/>
          <p:cNvSpPr/>
          <p:nvPr/>
        </p:nvSpPr>
        <p:spPr>
          <a:xfrm>
            <a:off x="6291072" y="240487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3" descr="/home/claude/proj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356" y="2532156"/>
            <a:ext cx="275783" cy="27578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76872" y="22402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relies on generic "important" flags, not computed scoring.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08192" y="33832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23" name="Shape 17"/>
          <p:cNvSpPr/>
          <p:nvPr/>
        </p:nvSpPr>
        <p:spPr>
          <a:xfrm>
            <a:off x="6291072" y="363931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4" name="Image 4" descr="/home/claude/proj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356" y="3766596"/>
            <a:ext cx="275783" cy="27578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76872" y="347472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insight into contact or communication relationships.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108192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27" name="Shape 20"/>
          <p:cNvSpPr/>
          <p:nvPr/>
        </p:nvSpPr>
        <p:spPr>
          <a:xfrm>
            <a:off x="6291072" y="487375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8" name="Image 5" descr="/home/claude/proj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356" y="5001036"/>
            <a:ext cx="275783" cy="27578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76872" y="4709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vendor lock-in with little room for academic customization.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14500"/>
            <a:ext cx="457200" cy="457200"/>
          </a:xfrm>
          <a:prstGeom prst="ellipse">
            <a:avLst/>
          </a:prstGeom>
          <a:solidFill>
            <a:srgbClr val="1E7A55"/>
          </a:solidFill>
          <a:ln/>
        </p:spPr>
      </p:sp>
      <p:pic>
        <p:nvPicPr>
          <p:cNvPr id="6" name="Image 0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42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36192"/>
            <a:ext cx="443026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DSA-driven architecture — 8 independent, testable feature modules.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77356" y="146304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EFF5F8"/>
          </a:solidFill>
          <a:ln/>
        </p:spPr>
      </p:sp>
      <p:sp>
        <p:nvSpPr>
          <p:cNvPr id="9" name="Shape 6"/>
          <p:cNvSpPr/>
          <p:nvPr/>
        </p:nvSpPr>
        <p:spPr>
          <a:xfrm>
            <a:off x="6441948" y="1714500"/>
            <a:ext cx="457200" cy="457200"/>
          </a:xfrm>
          <a:prstGeom prst="ellipse">
            <a:avLst/>
          </a:prstGeom>
          <a:solidFill>
            <a:srgbClr val="1E7A55"/>
          </a:solidFill>
          <a:ln/>
        </p:spPr>
      </p:sp>
      <p:pic>
        <p:nvPicPr>
          <p:cNvPr id="10" name="Image 1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8242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4596" y="1536192"/>
            <a:ext cx="443026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+ Suffix Array deliver O(m) keyword and prefix search, even at scale.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69748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EFF5F8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2948940"/>
            <a:ext cx="457200" cy="457200"/>
          </a:xfrm>
          <a:prstGeom prst="ellipse">
            <a:avLst/>
          </a:prstGeom>
          <a:solidFill>
            <a:srgbClr val="1E7A55"/>
          </a:solidFill>
          <a:ln/>
        </p:spPr>
      </p:sp>
      <p:pic>
        <p:nvPicPr>
          <p:cNvPr id="14" name="Image 2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586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770632"/>
            <a:ext cx="443026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rolling hash powers near-instant duplicate detection.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77356" y="269748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EFF5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441948" y="2948940"/>
            <a:ext cx="457200" cy="457200"/>
          </a:xfrm>
          <a:prstGeom prst="ellipse">
            <a:avLst/>
          </a:prstGeom>
          <a:solidFill>
            <a:srgbClr val="1E7A55"/>
          </a:solidFill>
          <a:ln/>
        </p:spPr>
      </p:sp>
      <p:pic>
        <p:nvPicPr>
          <p:cNvPr id="18" name="Image 3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30586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54596" y="2770632"/>
            <a:ext cx="443026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priority queue keeps top-priority mail accessible in O(log n).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EFF5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4183380"/>
            <a:ext cx="457200" cy="457200"/>
          </a:xfrm>
          <a:prstGeom prst="ellipse">
            <a:avLst/>
          </a:prstGeom>
          <a:solidFill>
            <a:srgbClr val="1E7A55"/>
          </a:solidFill>
          <a:ln/>
        </p:spPr>
      </p:sp>
      <p:pic>
        <p:nvPicPr>
          <p:cNvPr id="22" name="Image 4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310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005072"/>
            <a:ext cx="443026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BFS/DFS models the contact network for relationship analysis.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77356" y="3931920"/>
            <a:ext cx="5362956" cy="960120"/>
          </a:xfrm>
          <a:prstGeom prst="roundRect">
            <a:avLst>
              <a:gd name="adj" fmla="val 7619"/>
            </a:avLst>
          </a:prstGeom>
          <a:solidFill>
            <a:srgbClr val="EFF5F8"/>
          </a:solidFill>
          <a:ln/>
        </p:spPr>
      </p:sp>
      <p:sp>
        <p:nvSpPr>
          <p:cNvPr id="25" name="Shape 18"/>
          <p:cNvSpPr/>
          <p:nvPr/>
        </p:nvSpPr>
        <p:spPr>
          <a:xfrm>
            <a:off x="6441948" y="4183380"/>
            <a:ext cx="457200" cy="457200"/>
          </a:xfrm>
          <a:prstGeom prst="ellipse">
            <a:avLst/>
          </a:prstGeom>
          <a:solidFill>
            <a:srgbClr val="1E7A55"/>
          </a:solidFill>
          <a:ln/>
        </p:spPr>
      </p:sp>
      <p:pic>
        <p:nvPicPr>
          <p:cNvPr id="26" name="Image 5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429310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54596" y="4005072"/>
            <a:ext cx="443026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DP-based similarity engine drives "find similar" &amp; smart recommendations.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has explicit, analyzable time complexity — explainable by design.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7632"/>
            <a:ext cx="658368" cy="65836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6" name="Image 0" descr="/home/claude/proj/icons/dis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7830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54533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120640" y="1545336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 dashboard, search bar, recommendation panel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95848" y="2496312"/>
            <a:ext cx="0" cy="256032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2752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2962656"/>
            <a:ext cx="658368" cy="65836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2" name="Image 1" descr="/home/claude/proj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11810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880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Module Layer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120640" y="288036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 modules: spam, categorization, duplicates, priority, similarity, network, search, recommendation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5848" y="3831336"/>
            <a:ext cx="0" cy="256032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48640" y="408736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1C7293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4297680"/>
            <a:ext cx="658368" cy="65836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8" name="Image 2" descr="/home/claude/proj/icons/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45312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21538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Engine Layer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5120640" y="4215384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Trie, HashMap, Heap, Graph, DP tables, Suffix Array, KMP, Rabin-Karp, LRU Cache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095848" y="5166360"/>
            <a:ext cx="0" cy="256032"/>
          </a:xfrm>
          <a:prstGeom prst="line">
            <a:avLst/>
          </a:prstGeom>
          <a:noFill/>
          <a:ln w="190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48640" y="542239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3E8E9E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5632704"/>
            <a:ext cx="658368" cy="65836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4" name="Image 3" descr="/home/claude/proj/icons/sto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78815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7360" y="55504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Storage Layer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5120640" y="555040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store, keyword index store, contact-graph store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EMAIL FLOWS THROUGH THE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134416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34540" y="1344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97964" y="189280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roj/icons/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416" y="2033260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60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Ingestion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" y="2862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/ uploaded mail parsed for sender, subject &amp; body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032504" y="25146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52544" y="1600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EFF5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838444" y="134416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8444" y="1344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801868" y="189280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/home/claude/proj/icons/prepro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320" y="2033260"/>
            <a:ext cx="304312" cy="304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9704" y="2560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17136" y="2862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normalized, cleaned and tokenized into keywords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836408" y="25146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156448" y="1600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EFF5F8"/>
          </a:solidFill>
          <a:ln/>
        </p:spPr>
      </p:sp>
      <p:sp>
        <p:nvSpPr>
          <p:cNvPr id="21" name="Shape 17"/>
          <p:cNvSpPr/>
          <p:nvPr/>
        </p:nvSpPr>
        <p:spPr>
          <a:xfrm>
            <a:off x="9642348" y="1344168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642348" y="1344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9605772" y="189280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2" descr="/home/claude/proj/icons/sp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6224" y="2033260"/>
            <a:ext cx="304312" cy="3043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93608" y="2560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Analysis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321040" y="2862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check, duplicate check &amp; categorization run together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8640" y="3886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EFF5F8"/>
          </a:solidFill>
          <a:ln/>
        </p:spPr>
      </p:sp>
      <p:sp>
        <p:nvSpPr>
          <p:cNvPr id="28" name="Shape 23"/>
          <p:cNvSpPr/>
          <p:nvPr/>
        </p:nvSpPr>
        <p:spPr>
          <a:xfrm>
            <a:off x="2034540" y="3630168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034540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1997964" y="417880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3" descr="/home/claude/proj/icons/prio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8416" y="4319260"/>
            <a:ext cx="304312" cy="30431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" y="4846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13232" y="5148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ranking using rules &amp; sender weight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032504" y="48006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4352544" y="3886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EFF5F8"/>
          </a:solidFill>
          <a:ln/>
        </p:spPr>
      </p:sp>
      <p:sp>
        <p:nvSpPr>
          <p:cNvPr id="36" name="Shape 30"/>
          <p:cNvSpPr/>
          <p:nvPr/>
        </p:nvSpPr>
        <p:spPr>
          <a:xfrm>
            <a:off x="5838444" y="3630168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838444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5801868" y="417880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4" descr="/home/claude/proj/icons/keywo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2320" y="4319260"/>
            <a:ext cx="304312" cy="30431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489704" y="4846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4517136" y="5148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/ Suffix Array / HashMap updated for instant future search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836408" y="48006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8156448" y="3886200"/>
            <a:ext cx="3483864" cy="1828800"/>
          </a:xfrm>
          <a:prstGeom prst="roundRect">
            <a:avLst>
              <a:gd name="adj" fmla="val 4000"/>
            </a:avLst>
          </a:prstGeom>
          <a:solidFill>
            <a:srgbClr val="EFF5F8"/>
          </a:solidFill>
          <a:ln/>
        </p:spPr>
      </p:sp>
      <p:sp>
        <p:nvSpPr>
          <p:cNvPr id="44" name="Shape 37"/>
          <p:cNvSpPr/>
          <p:nvPr/>
        </p:nvSpPr>
        <p:spPr>
          <a:xfrm>
            <a:off x="9642348" y="3630168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9642348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Shape 39"/>
          <p:cNvSpPr/>
          <p:nvPr/>
        </p:nvSpPr>
        <p:spPr>
          <a:xfrm>
            <a:off x="9605772" y="417880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7" name="Image 5" descr="/home/claude/proj/icons/disp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6224" y="4319260"/>
            <a:ext cx="304312" cy="30431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293608" y="484632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8321040" y="51480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Categorized, prioritized, searchable mail with recommendations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1 – 4 OF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Implemented &amp; DSA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roj/icons/sp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71" y="180027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Spam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286000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unwanted or malicious mail using weighted keyword lookups against a spam index.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" y="3163824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163824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O(1) avg.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1463040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6478524" y="16642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proj/icons/categ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587" y="180027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1756" y="1627632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Email Categorization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96812" y="2286000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incoming mail into Academic, Work, Personal &amp; Promotions via prefix matching.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96812" y="3163824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7" name="Text 13"/>
          <p:cNvSpPr/>
          <p:nvPr/>
        </p:nvSpPr>
        <p:spPr>
          <a:xfrm>
            <a:off x="6496812" y="3163824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O(m)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968496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41696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/home/claude/proj/icons/duplic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71" y="4305727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133088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Duplicate Email Detection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68096" y="4791456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identical or near-identical mail using rolling-hash content comparison.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68096" y="5669280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24" name="Text 19"/>
          <p:cNvSpPr/>
          <p:nvPr/>
        </p:nvSpPr>
        <p:spPr>
          <a:xfrm>
            <a:off x="768096" y="5669280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O(n+m)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77356" y="3968496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26" name="Shape 21"/>
          <p:cNvSpPr/>
          <p:nvPr/>
        </p:nvSpPr>
        <p:spPr>
          <a:xfrm>
            <a:off x="6478524" y="41696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/home/claude/proj/icons/prio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587" y="4305727"/>
            <a:ext cx="294803" cy="29480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91756" y="4133088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Priority Prediction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96812" y="4791456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live ranked view of the most urgent mail in the inbox.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96812" y="5669280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1" name="Text 25"/>
          <p:cNvSpPr/>
          <p:nvPr/>
        </p:nvSpPr>
        <p:spPr>
          <a:xfrm>
            <a:off x="6496812" y="5669280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(Priority Queue)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O(log n)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5 – 8 OF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Implemented &amp; DSA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roj/icons/simi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71" y="180027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Similar Email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286000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related threads by scoring content similarity between messages.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" y="3163824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163824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O(n·m)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1463040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6478524" y="16642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proj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587" y="180027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1756" y="1627632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Contact Network Analysis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96812" y="2286000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sender-recipient graph and traverses it for relationship insight.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96812" y="3163824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7" name="Text 13"/>
          <p:cNvSpPr/>
          <p:nvPr/>
        </p:nvSpPr>
        <p:spPr>
          <a:xfrm>
            <a:off x="6496812" y="3163824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BFS/DFS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O(V+E)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968496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416966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/home/claude/proj/icons/keyw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71" y="4305727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133088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Fast Keyword Search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68096" y="4791456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Prefix, phrase and substring search across the whole mailbox instantly.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68096" y="5669280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24" name="Text 19"/>
          <p:cNvSpPr/>
          <p:nvPr/>
        </p:nvSpPr>
        <p:spPr>
          <a:xfrm>
            <a:off x="768096" y="5669280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Trie, Suffix Array, KMP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O(log n)/O(n+m)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77356" y="3968496"/>
            <a:ext cx="5362956" cy="2212848"/>
          </a:xfrm>
          <a:prstGeom prst="roundRect">
            <a:avLst>
              <a:gd name="adj" fmla="val 3719"/>
            </a:avLst>
          </a:prstGeom>
          <a:solidFill>
            <a:srgbClr val="EFF5F8"/>
          </a:solidFill>
          <a:ln/>
        </p:spPr>
      </p:sp>
      <p:sp>
        <p:nvSpPr>
          <p:cNvPr id="26" name="Shape 21"/>
          <p:cNvSpPr/>
          <p:nvPr/>
        </p:nvSpPr>
        <p:spPr>
          <a:xfrm>
            <a:off x="6478524" y="41696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/home/claude/proj/icons/recomm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587" y="4305727"/>
            <a:ext cx="294803" cy="29480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91756" y="4133088"/>
            <a:ext cx="42656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Email Recommendation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96812" y="4791456"/>
            <a:ext cx="49240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related mail and keeps recently viewed items instantly accessible.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96812" y="5669280"/>
            <a:ext cx="4924044" cy="34747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31" name="Text 25"/>
          <p:cNvSpPr/>
          <p:nvPr/>
        </p:nvSpPr>
        <p:spPr>
          <a:xfrm>
            <a:off x="6496812" y="5669280"/>
            <a:ext cx="49240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 + HashMap</a:t>
            </a:r>
            <a:r>
              <a:rPr lang="en-US" sz="1050" i="1" dirty="0">
                <a:solidFill>
                  <a:srgbClr val="9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O(1)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5544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roj/icons/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17739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Intelligence Platform  •  Review 2  •  Team Namitha, Akhila, Shamukhi, Vaishnavi, Tahfeem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</Words>
  <Application>Microsoft Office PowerPoint</Application>
  <PresentationFormat>Widescreen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 vaishnavi</cp:lastModifiedBy>
  <cp:revision>1</cp:revision>
  <dcterms:created xsi:type="dcterms:W3CDTF">2026-08-11T16:00:22Z</dcterms:created>
  <dcterms:modified xsi:type="dcterms:W3CDTF">2026-08-11T16:02:43Z</dcterms:modified>
</cp:coreProperties>
</file>